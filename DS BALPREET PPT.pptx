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2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2.svg" ContentType="image/svg+xml"/>
  <Override PartName="/ppt/media/image35.svg" ContentType="image/svg+xml"/>
  <Override PartName="/ppt/media/image38.svg" ContentType="image/svg+xml"/>
  <Override PartName="/ppt/media/image4.svg" ContentType="image/svg+xml"/>
  <Override PartName="/ppt/media/image4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Roboto Slab"/>
      <p:regular r:id="rId17"/>
    </p:embeddedFont>
    <p:embeddedFont>
      <p:font typeface="Roboto Italics" panose="02000000000000000000"/>
      <p:italic r:id="rId18"/>
    </p:embeddedFont>
    <p:embeddedFont>
      <p:font typeface="Roboto" panose="02000000000000000000"/>
      <p:regular r:id="rId19"/>
    </p:embeddedFont>
    <p:embeddedFont>
      <p:font typeface="Roboto Bold" panose="0200000000000000000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4.png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41.svg"/><Relationship Id="rId12" Type="http://schemas.openxmlformats.org/officeDocument/2006/relationships/image" Target="../media/image40.png"/><Relationship Id="rId11" Type="http://schemas.openxmlformats.org/officeDocument/2006/relationships/image" Target="../media/image39.png"/><Relationship Id="rId10" Type="http://schemas.openxmlformats.org/officeDocument/2006/relationships/image" Target="../media/image38.sv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141684" y="212522"/>
            <a:ext cx="6574631" cy="9861947"/>
            <a:chOff x="0" y="0"/>
            <a:chExt cx="8766175" cy="1314926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66175" cy="13149326"/>
            </a:xfrm>
            <a:custGeom>
              <a:avLst/>
              <a:gdLst/>
              <a:ahLst/>
              <a:cxnLst/>
              <a:rect l="l" t="t" r="r" b="b"/>
              <a:pathLst>
                <a:path w="8766175" h="13149326">
                  <a:moveTo>
                    <a:pt x="0" y="0"/>
                  </a:moveTo>
                  <a:lnTo>
                    <a:pt x="8766175" y="0"/>
                  </a:lnTo>
                  <a:lnTo>
                    <a:pt x="8766175" y="13149326"/>
                  </a:lnTo>
                  <a:lnTo>
                    <a:pt x="0" y="131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8" y="1864071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5"/>
              </a:lnSpc>
            </a:pPr>
            <a:r>
              <a:rPr lang="en-US" sz="556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Sales Data Analysis Using Microsoft Excel</a:t>
            </a:r>
            <a:endParaRPr lang="en-US" sz="5560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50238" y="3985022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185" i="1">
                <a:solidFill>
                  <a:srgbClr val="15213F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Academic Project — Business &amp; Data Analysis</a:t>
            </a:r>
            <a:endParaRPr lang="en-US" sz="2185" i="1">
              <a:solidFill>
                <a:srgbClr val="15213F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7850238" y="4852835"/>
            <a:ext cx="4580934" cy="1633690"/>
            <a:chOff x="0" y="0"/>
            <a:chExt cx="6107913" cy="21782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07811" cy="2178177"/>
            </a:xfrm>
            <a:custGeom>
              <a:avLst/>
              <a:gdLst/>
              <a:ahLst/>
              <a:cxnLst/>
              <a:rect l="l" t="t" r="r" b="b"/>
              <a:pathLst>
                <a:path w="6107811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169" y="0"/>
                  </a:lnTo>
                  <a:cubicBezTo>
                    <a:pt x="6082538" y="0"/>
                    <a:pt x="6107811" y="25400"/>
                    <a:pt x="6107811" y="56642"/>
                  </a:cubicBezTo>
                  <a:lnTo>
                    <a:pt x="6107811" y="2121535"/>
                  </a:lnTo>
                  <a:cubicBezTo>
                    <a:pt x="6107811" y="2152904"/>
                    <a:pt x="6082411" y="2178177"/>
                    <a:pt x="6051169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133759" y="511730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Prepared By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33759" y="5654126"/>
            <a:ext cx="4013892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Balpreet Kaur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12714684" y="4852835"/>
            <a:ext cx="4581077" cy="1633690"/>
            <a:chOff x="0" y="0"/>
            <a:chExt cx="6108103" cy="21782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08065" cy="2178177"/>
            </a:xfrm>
            <a:custGeom>
              <a:avLst/>
              <a:gdLst/>
              <a:ahLst/>
              <a:cxnLst/>
              <a:rect l="l" t="t" r="r" b="b"/>
              <a:pathLst>
                <a:path w="6108065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2121535"/>
                  </a:lnTo>
                  <a:cubicBezTo>
                    <a:pt x="6108065" y="2152904"/>
                    <a:pt x="6082665" y="2178177"/>
                    <a:pt x="605142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998206" y="511730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Class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998206" y="5654126"/>
            <a:ext cx="4014045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24BSC 1-A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7850238" y="6770046"/>
            <a:ext cx="9445523" cy="1633690"/>
            <a:chOff x="0" y="0"/>
            <a:chExt cx="12594031" cy="21782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93955" cy="2178177"/>
            </a:xfrm>
            <a:custGeom>
              <a:avLst/>
              <a:gdLst/>
              <a:ahLst/>
              <a:cxnLst/>
              <a:rect l="l" t="t" r="r" b="b"/>
              <a:pathLst>
                <a:path w="12593955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2121535"/>
                  </a:lnTo>
                  <a:cubicBezTo>
                    <a:pt x="12593955" y="2152904"/>
                    <a:pt x="12568555" y="2178177"/>
                    <a:pt x="1253731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8133759" y="7034508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Submitted To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133759" y="7571337"/>
            <a:ext cx="887849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Parwan Sir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141684" y="212522"/>
            <a:ext cx="6574631" cy="9861947"/>
            <a:chOff x="0" y="0"/>
            <a:chExt cx="8766175" cy="1314926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66175" cy="13149326"/>
            </a:xfrm>
            <a:custGeom>
              <a:avLst/>
              <a:gdLst/>
              <a:ahLst/>
              <a:cxnLst/>
              <a:rect l="l" t="t" r="r" b="b"/>
              <a:pathLst>
                <a:path w="8766175" h="13149326">
                  <a:moveTo>
                    <a:pt x="0" y="0"/>
                  </a:moveTo>
                  <a:lnTo>
                    <a:pt x="8766175" y="0"/>
                  </a:lnTo>
                  <a:lnTo>
                    <a:pt x="8766175" y="13149326"/>
                  </a:lnTo>
                  <a:lnTo>
                    <a:pt x="0" y="131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8" y="1621336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Introduction</a:t>
            </a:r>
            <a:endParaRPr lang="en-US" sz="5560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" name="Freeform 11" descr="preencoded.png"/>
          <p:cNvSpPr/>
          <p:nvPr/>
        </p:nvSpPr>
        <p:spPr>
          <a:xfrm>
            <a:off x="7850238" y="295155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66" b="-66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913314" y="2932509"/>
            <a:ext cx="483036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What Is Sales Data Analysis?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13314" y="3469329"/>
            <a:ext cx="838244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process of collecting, organizing, and examining sales data to uncover patterns, trends, and actionable business insights.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" name="Freeform 14" descr="preencoded.png"/>
          <p:cNvSpPr/>
          <p:nvPr/>
        </p:nvSpPr>
        <p:spPr>
          <a:xfrm>
            <a:off x="7850238" y="5038877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666" r="-666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913314" y="5019827"/>
            <a:ext cx="451812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Why It Matters in Business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3314" y="5556647"/>
            <a:ext cx="838244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Informed decisions — from inventory planning to marketing strategy — rely on accurate, well-analyzed sales data.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" name="Freeform 17" descr="preencoded.png"/>
          <p:cNvSpPr/>
          <p:nvPr/>
        </p:nvSpPr>
        <p:spPr>
          <a:xfrm>
            <a:off x="7850238" y="712618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333" b="-1333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913314" y="710713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Excel's Role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913314" y="7643965"/>
            <a:ext cx="838244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Microsoft Excel provides an accessible, powerful platform for data entry, formula-based calculations, and visual chart creation.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944909"/>
            <a:ext cx="5670652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0"/>
              </a:lnSpc>
            </a:pPr>
            <a:r>
              <a:rPr lang="en-US" sz="4435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Problem Statement</a:t>
            </a:r>
            <a:endParaRPr lang="en-US" sz="4435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2238" y="2859586"/>
            <a:ext cx="8322764" cy="5548465"/>
            <a:chOff x="0" y="0"/>
            <a:chExt cx="11097019" cy="739795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097006" cy="7398004"/>
            </a:xfrm>
            <a:custGeom>
              <a:avLst/>
              <a:gdLst/>
              <a:ahLst/>
              <a:cxnLst/>
              <a:rect l="l" t="t" r="r" b="b"/>
              <a:pathLst>
                <a:path w="11097006" h="7398004">
                  <a:moveTo>
                    <a:pt x="0" y="0"/>
                  </a:moveTo>
                  <a:lnTo>
                    <a:pt x="11097006" y="0"/>
                  </a:lnTo>
                  <a:lnTo>
                    <a:pt x="11097006" y="7398004"/>
                  </a:lnTo>
                  <a:lnTo>
                    <a:pt x="0" y="7398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9" b="-2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1958638" y="2148783"/>
            <a:ext cx="5346497" cy="1494387"/>
            <a:chOff x="0" y="0"/>
            <a:chExt cx="7128662" cy="19925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28637" cy="1992503"/>
            </a:xfrm>
            <a:custGeom>
              <a:avLst/>
              <a:gdLst/>
              <a:ahLst/>
              <a:cxnLst/>
              <a:rect l="l" t="t" r="r" b="b"/>
              <a:pathLst>
                <a:path w="7128637" h="1992503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7083298" y="0"/>
                  </a:lnTo>
                  <a:cubicBezTo>
                    <a:pt x="7108317" y="0"/>
                    <a:pt x="7128637" y="20320"/>
                    <a:pt x="7128637" y="45339"/>
                  </a:cubicBezTo>
                  <a:lnTo>
                    <a:pt x="7128637" y="1947164"/>
                  </a:lnTo>
                  <a:cubicBezTo>
                    <a:pt x="7128637" y="1972183"/>
                    <a:pt x="7108317" y="1992503"/>
                    <a:pt x="7083298" y="1992503"/>
                  </a:cubicBezTo>
                  <a:lnTo>
                    <a:pt x="45339" y="1992503"/>
                  </a:lnTo>
                  <a:cubicBezTo>
                    <a:pt x="20320" y="1992503"/>
                    <a:pt x="0" y="1972183"/>
                    <a:pt x="0" y="1947164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2185447" y="2471890"/>
            <a:ext cx="283521" cy="226809"/>
            <a:chOff x="0" y="0"/>
            <a:chExt cx="378028" cy="30241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378079" cy="302387"/>
            </a:xfrm>
            <a:custGeom>
              <a:avLst/>
              <a:gdLst/>
              <a:ahLst/>
              <a:cxnLst/>
              <a:rect l="l" t="t" r="r" b="b"/>
              <a:pathLst>
                <a:path w="378079" h="302387">
                  <a:moveTo>
                    <a:pt x="0" y="0"/>
                  </a:moveTo>
                  <a:lnTo>
                    <a:pt x="378079" y="0"/>
                  </a:lnTo>
                  <a:lnTo>
                    <a:pt x="378079" y="302387"/>
                  </a:lnTo>
                  <a:lnTo>
                    <a:pt x="0" y="3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3" b="-8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2695787" y="2339283"/>
            <a:ext cx="4382538" cy="102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Most businesses collect large volumes of sales data — but fail to analyze it effectively.</a:t>
            </a:r>
            <a:endParaRPr lang="en-US" sz="175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" name="Freeform 14" descr="preencoded.png"/>
          <p:cNvSpPr/>
          <p:nvPr/>
        </p:nvSpPr>
        <p:spPr>
          <a:xfrm>
            <a:off x="12043620" y="3854129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34" r="-833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695787" y="3828155"/>
            <a:ext cx="3062735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Data Without Direction</a:t>
            </a:r>
            <a:endParaRPr lang="en-US" sz="218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95787" y="4335361"/>
            <a:ext cx="4609357" cy="102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Raw data sitting in spreadsheets provides no value unless properly organized and examined.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" name="Freeform 17" descr="preencoded.png"/>
          <p:cNvSpPr/>
          <p:nvPr/>
        </p:nvSpPr>
        <p:spPr>
          <a:xfrm>
            <a:off x="12043620" y="5732336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3" y="0"/>
                </a:lnTo>
                <a:lnTo>
                  <a:pt x="340223" y="340223"/>
                </a:lnTo>
                <a:lnTo>
                  <a:pt x="0" y="340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34" r="-8331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695787" y="5706370"/>
            <a:ext cx="2985640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Poor Decision-Making</a:t>
            </a:r>
            <a:endParaRPr lang="en-US" sz="218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695787" y="6213577"/>
            <a:ext cx="4609357" cy="102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Without analysis, businesses risk overstocking, missed revenue opportunities, and slow responses to market shifts.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0" name="Freeform 20" descr="preencoded.png"/>
          <p:cNvSpPr/>
          <p:nvPr/>
        </p:nvSpPr>
        <p:spPr>
          <a:xfrm>
            <a:off x="12043620" y="7610551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34" r="-8331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695787" y="7584577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The Solution</a:t>
            </a:r>
            <a:endParaRPr lang="en-US" sz="218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695787" y="8091783"/>
            <a:ext cx="4609357" cy="102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Structured analysis using Excel transforms raw numbers into clear, actionable business intelligence.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280370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Project Objectives</a:t>
            </a:r>
            <a:endParaRPr lang="en-US" sz="5560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2238" y="3177626"/>
            <a:ext cx="8009934" cy="2550614"/>
            <a:chOff x="0" y="0"/>
            <a:chExt cx="10679913" cy="34008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79938" cy="3400806"/>
            </a:xfrm>
            <a:custGeom>
              <a:avLst/>
              <a:gdLst/>
              <a:ahLst/>
              <a:cxnLst/>
              <a:rect l="l" t="t" r="r" b="b"/>
              <a:pathLst>
                <a:path w="10679938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9" name="Group 9"/>
          <p:cNvGrpSpPr/>
          <p:nvPr/>
        </p:nvGrpSpPr>
        <p:grpSpPr>
          <a:xfrm rot="0">
            <a:off x="992238" y="3139526"/>
            <a:ext cx="8009934" cy="152400"/>
            <a:chOff x="0" y="0"/>
            <a:chExt cx="10679913" cy="2032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679938" cy="203200"/>
            </a:xfrm>
            <a:custGeom>
              <a:avLst/>
              <a:gdLst/>
              <a:ahLst/>
              <a:cxnLst/>
              <a:rect l="l" t="t" r="r" b="b"/>
              <a:pathLst>
                <a:path w="10679938" h="203200">
                  <a:moveTo>
                    <a:pt x="0" y="0"/>
                  </a:moveTo>
                  <a:lnTo>
                    <a:pt x="10679938" y="0"/>
                  </a:lnTo>
                  <a:lnTo>
                    <a:pt x="1067993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3" r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4571924" y="2752430"/>
            <a:ext cx="850554" cy="850554"/>
            <a:chOff x="0" y="0"/>
            <a:chExt cx="1134072" cy="113407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827013" y="2860329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lang="en-US" sz="2625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3859" y="386730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Analyze Sales Data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3859" y="4404122"/>
            <a:ext cx="736669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Import and organize real-world sales data within Excel for structured review.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9285684" y="3177626"/>
            <a:ext cx="8010077" cy="2550614"/>
            <a:chOff x="0" y="0"/>
            <a:chExt cx="10680103" cy="3400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80065" cy="3400806"/>
            </a:xfrm>
            <a:custGeom>
              <a:avLst/>
              <a:gdLst/>
              <a:ahLst/>
              <a:cxnLst/>
              <a:rect l="l" t="t" r="r" b="b"/>
              <a:pathLst>
                <a:path w="10680065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156966"/>
                  </a:lnTo>
                  <a:cubicBezTo>
                    <a:pt x="10680065" y="3291586"/>
                    <a:pt x="10570845" y="3400806"/>
                    <a:pt x="10436225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9285684" y="3139526"/>
            <a:ext cx="8010077" cy="152400"/>
            <a:chOff x="0" y="0"/>
            <a:chExt cx="10680103" cy="2032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0680065" cy="203200"/>
            </a:xfrm>
            <a:custGeom>
              <a:avLst/>
              <a:gdLst/>
              <a:ahLst/>
              <a:cxnLst/>
              <a:rect l="l" t="t" r="r" b="b"/>
              <a:pathLst>
                <a:path w="10680065" h="203200">
                  <a:moveTo>
                    <a:pt x="0" y="0"/>
                  </a:moveTo>
                  <a:lnTo>
                    <a:pt x="10680065" y="0"/>
                  </a:lnTo>
                  <a:lnTo>
                    <a:pt x="1068006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" r="-3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2865370" y="2752430"/>
            <a:ext cx="850554" cy="850554"/>
            <a:chOff x="0" y="0"/>
            <a:chExt cx="1134072" cy="113407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3120468" y="2860329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lang="en-US" sz="2625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607306" y="3867302"/>
            <a:ext cx="3625901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Calculate Key Metrics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607306" y="4404122"/>
            <a:ext cx="736684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Use formulas to compute total sales, total revenue, and product-level breakdowns.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992238" y="6436966"/>
            <a:ext cx="8009934" cy="2550614"/>
            <a:chOff x="0" y="0"/>
            <a:chExt cx="10679913" cy="3400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79938" cy="3400806"/>
            </a:xfrm>
            <a:custGeom>
              <a:avLst/>
              <a:gdLst/>
              <a:ahLst/>
              <a:cxnLst/>
              <a:rect l="l" t="t" r="r" b="b"/>
              <a:pathLst>
                <a:path w="10679938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27" name="Group 27"/>
          <p:cNvGrpSpPr/>
          <p:nvPr/>
        </p:nvGrpSpPr>
        <p:grpSpPr>
          <a:xfrm rot="0">
            <a:off x="992238" y="6398866"/>
            <a:ext cx="8009934" cy="152400"/>
            <a:chOff x="0" y="0"/>
            <a:chExt cx="10679913" cy="203200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0679938" cy="203200"/>
            </a:xfrm>
            <a:custGeom>
              <a:avLst/>
              <a:gdLst/>
              <a:ahLst/>
              <a:cxnLst/>
              <a:rect l="l" t="t" r="r" b="b"/>
              <a:pathLst>
                <a:path w="10679938" h="203200">
                  <a:moveTo>
                    <a:pt x="0" y="0"/>
                  </a:moveTo>
                  <a:lnTo>
                    <a:pt x="10679938" y="0"/>
                  </a:lnTo>
                  <a:lnTo>
                    <a:pt x="1067993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3" r="-3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4571924" y="6011761"/>
            <a:ext cx="850554" cy="850554"/>
            <a:chOff x="0" y="0"/>
            <a:chExt cx="1134072" cy="1134072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4827013" y="6119660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lang="en-US" sz="2625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13859" y="7126634"/>
            <a:ext cx="397609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Identify Top Performers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13859" y="7663453"/>
            <a:ext cx="736669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Pinpoint best- and worst-performing products using MAX, MIN, and conditional logic.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34" name="Group 34"/>
          <p:cNvGrpSpPr/>
          <p:nvPr/>
        </p:nvGrpSpPr>
        <p:grpSpPr>
          <a:xfrm rot="0">
            <a:off x="9285684" y="6436966"/>
            <a:ext cx="8010077" cy="2550614"/>
            <a:chOff x="0" y="0"/>
            <a:chExt cx="10680103" cy="3400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680065" cy="3400806"/>
            </a:xfrm>
            <a:custGeom>
              <a:avLst/>
              <a:gdLst/>
              <a:ahLst/>
              <a:cxnLst/>
              <a:rect l="l" t="t" r="r" b="b"/>
              <a:pathLst>
                <a:path w="10680065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156966"/>
                  </a:lnTo>
                  <a:cubicBezTo>
                    <a:pt x="10680065" y="3291586"/>
                    <a:pt x="10570845" y="3400806"/>
                    <a:pt x="10436225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36" name="Group 36"/>
          <p:cNvGrpSpPr/>
          <p:nvPr/>
        </p:nvGrpSpPr>
        <p:grpSpPr>
          <a:xfrm rot="0">
            <a:off x="9285684" y="6398866"/>
            <a:ext cx="8010077" cy="152400"/>
            <a:chOff x="0" y="0"/>
            <a:chExt cx="10680103" cy="203200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10680065" cy="203200"/>
            </a:xfrm>
            <a:custGeom>
              <a:avLst/>
              <a:gdLst/>
              <a:ahLst/>
              <a:cxnLst/>
              <a:rect l="l" t="t" r="r" b="b"/>
              <a:pathLst>
                <a:path w="10680065" h="203200">
                  <a:moveTo>
                    <a:pt x="0" y="0"/>
                  </a:moveTo>
                  <a:lnTo>
                    <a:pt x="10680065" y="0"/>
                  </a:lnTo>
                  <a:lnTo>
                    <a:pt x="1068006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" r="-3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12865370" y="6011761"/>
            <a:ext cx="850554" cy="850554"/>
            <a:chOff x="0" y="0"/>
            <a:chExt cx="1134072" cy="1134072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13120468" y="6119660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lang="en-US" sz="2625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607306" y="7126634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Visualize the Data</a:t>
            </a:r>
            <a:endParaRPr lang="en-US" sz="275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607306" y="7663453"/>
            <a:ext cx="736684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Build bar charts and pie charts to communicate findings clearly and persuasively.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932107"/>
            <a:ext cx="6685655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0"/>
              </a:lnSpc>
            </a:pPr>
            <a:r>
              <a:rPr lang="en-US" sz="4435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Tools &amp; Techniques Used</a:t>
            </a:r>
            <a:endParaRPr lang="en-US" sz="4435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2238" y="2135981"/>
            <a:ext cx="8322764" cy="5548465"/>
            <a:chOff x="0" y="0"/>
            <a:chExt cx="11097019" cy="739795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097006" cy="7398004"/>
            </a:xfrm>
            <a:custGeom>
              <a:avLst/>
              <a:gdLst/>
              <a:ahLst/>
              <a:cxnLst/>
              <a:rect l="l" t="t" r="r" b="b"/>
              <a:pathLst>
                <a:path w="11097006" h="7398004">
                  <a:moveTo>
                    <a:pt x="0" y="0"/>
                  </a:moveTo>
                  <a:lnTo>
                    <a:pt x="11097006" y="0"/>
                  </a:lnTo>
                  <a:lnTo>
                    <a:pt x="11097006" y="7398004"/>
                  </a:lnTo>
                  <a:lnTo>
                    <a:pt x="0" y="7398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9" b="-2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958638" y="3897659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Microsoft Excel</a:t>
            </a:r>
            <a:endParaRPr lang="en-US" sz="2185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958638" y="4404865"/>
            <a:ext cx="5346497" cy="7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primary tool used throughout this project for data entry, analysis, and visualization.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58638" y="5221186"/>
            <a:ext cx="5346497" cy="7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Additionally: Bar charts, Pie charts, Pivot Tables, Conditional Formatting, Sorting &amp; Filtering.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992238" y="8092526"/>
            <a:ext cx="5313464" cy="1243308"/>
            <a:chOff x="0" y="0"/>
            <a:chExt cx="7084619" cy="16577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84568" cy="1657731"/>
            </a:xfrm>
            <a:custGeom>
              <a:avLst/>
              <a:gdLst/>
              <a:ahLst/>
              <a:cxnLst/>
              <a:rect l="l" t="t" r="r" b="b"/>
              <a:pathLst>
                <a:path w="7084568" h="165773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7039229" y="0"/>
                  </a:lnTo>
                  <a:cubicBezTo>
                    <a:pt x="7064248" y="0"/>
                    <a:pt x="7084568" y="20320"/>
                    <a:pt x="7084568" y="45339"/>
                  </a:cubicBezTo>
                  <a:lnTo>
                    <a:pt x="7084568" y="1612392"/>
                  </a:lnTo>
                  <a:cubicBezTo>
                    <a:pt x="7084568" y="1637411"/>
                    <a:pt x="7064248" y="1657731"/>
                    <a:pt x="7039229" y="1657731"/>
                  </a:cubicBezTo>
                  <a:lnTo>
                    <a:pt x="45339" y="1657731"/>
                  </a:lnTo>
                  <a:cubicBezTo>
                    <a:pt x="20320" y="1657731"/>
                    <a:pt x="0" y="1637411"/>
                    <a:pt x="0" y="1612392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19048" y="8300295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SUM</a:t>
            </a:r>
            <a:endParaRPr lang="en-US" sz="218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9048" y="8734873"/>
            <a:ext cx="4859836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Total sales &amp; revenue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6487116" y="8092526"/>
            <a:ext cx="5313607" cy="1243308"/>
            <a:chOff x="0" y="0"/>
            <a:chExt cx="7084809" cy="16577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84822" cy="1657731"/>
            </a:xfrm>
            <a:custGeom>
              <a:avLst/>
              <a:gdLst/>
              <a:ahLst/>
              <a:cxnLst/>
              <a:rect l="l" t="t" r="r" b="b"/>
              <a:pathLst>
                <a:path w="7084822" h="165773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7039483" y="0"/>
                  </a:lnTo>
                  <a:cubicBezTo>
                    <a:pt x="7064501" y="0"/>
                    <a:pt x="7084822" y="20320"/>
                    <a:pt x="7084822" y="45339"/>
                  </a:cubicBezTo>
                  <a:lnTo>
                    <a:pt x="7084822" y="1612392"/>
                  </a:lnTo>
                  <a:cubicBezTo>
                    <a:pt x="7084822" y="1637411"/>
                    <a:pt x="7064501" y="1657731"/>
                    <a:pt x="7039483" y="1657731"/>
                  </a:cubicBezTo>
                  <a:lnTo>
                    <a:pt x="45339" y="1657731"/>
                  </a:lnTo>
                  <a:cubicBezTo>
                    <a:pt x="20320" y="1657731"/>
                    <a:pt x="0" y="1637411"/>
                    <a:pt x="0" y="1612392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713934" y="8300295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MAX / MIN</a:t>
            </a:r>
            <a:endParaRPr lang="en-US" sz="218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13934" y="8734873"/>
            <a:ext cx="4859979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Top &amp; lowest performers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11982155" y="8092526"/>
            <a:ext cx="5313607" cy="1243308"/>
            <a:chOff x="0" y="0"/>
            <a:chExt cx="7084809" cy="16577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84822" cy="1657731"/>
            </a:xfrm>
            <a:custGeom>
              <a:avLst/>
              <a:gdLst/>
              <a:ahLst/>
              <a:cxnLst/>
              <a:rect l="l" t="t" r="r" b="b"/>
              <a:pathLst>
                <a:path w="7084822" h="165773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7039483" y="0"/>
                  </a:lnTo>
                  <a:cubicBezTo>
                    <a:pt x="7064501" y="0"/>
                    <a:pt x="7084822" y="20320"/>
                    <a:pt x="7084822" y="45339"/>
                  </a:cubicBezTo>
                  <a:lnTo>
                    <a:pt x="7084822" y="1612392"/>
                  </a:lnTo>
                  <a:cubicBezTo>
                    <a:pt x="7084822" y="1637411"/>
                    <a:pt x="7064501" y="1657731"/>
                    <a:pt x="7039483" y="1657731"/>
                  </a:cubicBezTo>
                  <a:lnTo>
                    <a:pt x="45339" y="1657731"/>
                  </a:lnTo>
                  <a:cubicBezTo>
                    <a:pt x="20320" y="1657731"/>
                    <a:pt x="0" y="1637411"/>
                    <a:pt x="0" y="1612392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208964" y="8300295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IF</a:t>
            </a:r>
            <a:endParaRPr lang="en-US" sz="218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208964" y="8734873"/>
            <a:ext cx="4859979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75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Conditional logic</a:t>
            </a:r>
            <a:endParaRPr lang="en-US" sz="175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105195"/>
            <a:ext cx="6733880" cy="87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Dataset Overview</a:t>
            </a:r>
            <a:endParaRPr lang="en-US" sz="5250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238" y="2411016"/>
            <a:ext cx="16303523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dataset captures product-level sales records, including quantity sold and unit pricing — forming the foundation of all calculations.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87476" y="3190427"/>
            <a:ext cx="16313048" cy="4552655"/>
            <a:chOff x="0" y="0"/>
            <a:chExt cx="21750731" cy="60702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50782" cy="6070219"/>
            </a:xfrm>
            <a:custGeom>
              <a:avLst/>
              <a:gdLst/>
              <a:ahLst/>
              <a:cxnLst/>
              <a:rect l="l" t="t" r="r" b="b"/>
              <a:pathLst>
                <a:path w="21750782" h="6070219">
                  <a:moveTo>
                    <a:pt x="0" y="60198"/>
                  </a:moveTo>
                  <a:cubicBezTo>
                    <a:pt x="0" y="26924"/>
                    <a:pt x="27051" y="0"/>
                    <a:pt x="60325" y="0"/>
                  </a:cubicBezTo>
                  <a:lnTo>
                    <a:pt x="21690457" y="0"/>
                  </a:lnTo>
                  <a:lnTo>
                    <a:pt x="21690457" y="6350"/>
                  </a:lnTo>
                  <a:lnTo>
                    <a:pt x="21690457" y="0"/>
                  </a:lnTo>
                  <a:cubicBezTo>
                    <a:pt x="21723731" y="0"/>
                    <a:pt x="21750782" y="26924"/>
                    <a:pt x="21750782" y="60198"/>
                  </a:cubicBezTo>
                  <a:lnTo>
                    <a:pt x="21744432" y="60198"/>
                  </a:lnTo>
                  <a:lnTo>
                    <a:pt x="21750782" y="60198"/>
                  </a:lnTo>
                  <a:lnTo>
                    <a:pt x="21750782" y="6010021"/>
                  </a:lnTo>
                  <a:lnTo>
                    <a:pt x="21744432" y="6010021"/>
                  </a:lnTo>
                  <a:lnTo>
                    <a:pt x="21750782" y="6010021"/>
                  </a:lnTo>
                  <a:cubicBezTo>
                    <a:pt x="21750782" y="6043295"/>
                    <a:pt x="21723731" y="6070219"/>
                    <a:pt x="21690457" y="6070219"/>
                  </a:cubicBezTo>
                  <a:lnTo>
                    <a:pt x="21690457" y="6063869"/>
                  </a:lnTo>
                  <a:lnTo>
                    <a:pt x="21690457" y="6070219"/>
                  </a:lnTo>
                  <a:lnTo>
                    <a:pt x="60325" y="6070219"/>
                  </a:lnTo>
                  <a:lnTo>
                    <a:pt x="60325" y="6063869"/>
                  </a:lnTo>
                  <a:lnTo>
                    <a:pt x="60325" y="6070219"/>
                  </a:lnTo>
                  <a:cubicBezTo>
                    <a:pt x="27051" y="6070219"/>
                    <a:pt x="0" y="6043295"/>
                    <a:pt x="0" y="6010021"/>
                  </a:cubicBezTo>
                  <a:lnTo>
                    <a:pt x="0" y="60198"/>
                  </a:lnTo>
                  <a:lnTo>
                    <a:pt x="6350" y="60198"/>
                  </a:lnTo>
                  <a:lnTo>
                    <a:pt x="0" y="60198"/>
                  </a:lnTo>
                  <a:moveTo>
                    <a:pt x="12700" y="60198"/>
                  </a:moveTo>
                  <a:lnTo>
                    <a:pt x="12700" y="6010021"/>
                  </a:lnTo>
                  <a:lnTo>
                    <a:pt x="6350" y="6010021"/>
                  </a:lnTo>
                  <a:lnTo>
                    <a:pt x="12700" y="6010021"/>
                  </a:lnTo>
                  <a:cubicBezTo>
                    <a:pt x="12700" y="6036183"/>
                    <a:pt x="34036" y="6057519"/>
                    <a:pt x="60325" y="6057519"/>
                  </a:cubicBezTo>
                  <a:lnTo>
                    <a:pt x="21690457" y="6057519"/>
                  </a:lnTo>
                  <a:cubicBezTo>
                    <a:pt x="21716746" y="6057519"/>
                    <a:pt x="21738082" y="6036183"/>
                    <a:pt x="21738082" y="6010021"/>
                  </a:cubicBezTo>
                  <a:lnTo>
                    <a:pt x="21738082" y="60198"/>
                  </a:lnTo>
                  <a:cubicBezTo>
                    <a:pt x="21738082" y="34036"/>
                    <a:pt x="21716746" y="12700"/>
                    <a:pt x="21690457" y="12700"/>
                  </a:cubicBezTo>
                  <a:lnTo>
                    <a:pt x="60325" y="12700"/>
                  </a:lnTo>
                  <a:lnTo>
                    <a:pt x="60325" y="6350"/>
                  </a:lnTo>
                  <a:lnTo>
                    <a:pt x="60325" y="12700"/>
                  </a:lnTo>
                  <a:cubicBezTo>
                    <a:pt x="34036" y="12700"/>
                    <a:pt x="12700" y="34036"/>
                    <a:pt x="12700" y="6019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71292" y="3291478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 b="1">
                <a:solidFill>
                  <a:srgbClr val="15213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Product Name</a:t>
            </a:r>
            <a:endParaRPr lang="en-US" sz="2060" b="1">
              <a:solidFill>
                <a:srgbClr val="15213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61332" y="3291478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 b="1">
                <a:solidFill>
                  <a:srgbClr val="15213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Quantity Sold</a:t>
            </a:r>
            <a:endParaRPr lang="en-US" sz="2060" b="1">
              <a:solidFill>
                <a:srgbClr val="15213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418139" y="3291478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 b="1">
                <a:solidFill>
                  <a:srgbClr val="15213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Unit Price ($)</a:t>
            </a:r>
            <a:endParaRPr lang="en-US" sz="2060" b="1">
              <a:solidFill>
                <a:srgbClr val="15213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74946" y="3291478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 b="1">
                <a:solidFill>
                  <a:srgbClr val="15213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Total Sales ($)</a:t>
            </a:r>
            <a:endParaRPr lang="en-US" sz="2060" b="1">
              <a:solidFill>
                <a:srgbClr val="15213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71292" y="4047087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Laptop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61332" y="4047087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418139" y="4047087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800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674946" y="4047087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40,000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71292" y="4802686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Smartphone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61332" y="4802686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120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18139" y="4802686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674946" y="4802686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60,000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71292" y="5558285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Headphones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61332" y="5558285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18139" y="5558285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80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674946" y="5558285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16,000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71292" y="6313884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Tablet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161332" y="6313884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75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418139" y="6313884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350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674946" y="6313884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26,250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71292" y="7069484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Smartwatch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161332" y="7069484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90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418139" y="7069484"/>
            <a:ext cx="2708824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674946" y="7069484"/>
            <a:ext cx="434205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18,000</a:t>
            </a:r>
            <a:endParaRPr lang="en-US" sz="20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34" name="Group 34"/>
          <p:cNvGrpSpPr/>
          <p:nvPr/>
        </p:nvGrpSpPr>
        <p:grpSpPr>
          <a:xfrm rot="0">
            <a:off x="992238" y="8026156"/>
            <a:ext cx="16303523" cy="1127074"/>
            <a:chOff x="0" y="0"/>
            <a:chExt cx="21738031" cy="150276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737955" cy="1502791"/>
            </a:xfrm>
            <a:custGeom>
              <a:avLst/>
              <a:gdLst/>
              <a:ahLst/>
              <a:cxnLst/>
              <a:rect l="l" t="t" r="r" b="b"/>
              <a:pathLst>
                <a:path w="21737955" h="1502791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21684107" y="0"/>
                  </a:lnTo>
                  <a:cubicBezTo>
                    <a:pt x="21713825" y="0"/>
                    <a:pt x="21737955" y="24130"/>
                    <a:pt x="21737955" y="53848"/>
                  </a:cubicBezTo>
                  <a:lnTo>
                    <a:pt x="21737955" y="1448943"/>
                  </a:lnTo>
                  <a:cubicBezTo>
                    <a:pt x="21737955" y="1478661"/>
                    <a:pt x="21713825" y="1502791"/>
                    <a:pt x="21684107" y="1502791"/>
                  </a:cubicBezTo>
                  <a:lnTo>
                    <a:pt x="53848" y="1502791"/>
                  </a:lnTo>
                  <a:cubicBezTo>
                    <a:pt x="24130" y="1502791"/>
                    <a:pt x="0" y="1478661"/>
                    <a:pt x="0" y="1448943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36" name="Group 36"/>
          <p:cNvGrpSpPr/>
          <p:nvPr/>
        </p:nvGrpSpPr>
        <p:grpSpPr>
          <a:xfrm rot="0">
            <a:off x="1261472" y="8422329"/>
            <a:ext cx="336652" cy="269234"/>
            <a:chOff x="0" y="0"/>
            <a:chExt cx="448869" cy="358978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448818" cy="359029"/>
            </a:xfrm>
            <a:custGeom>
              <a:avLst/>
              <a:gdLst/>
              <a:ahLst/>
              <a:cxnLst/>
              <a:rect l="l" t="t" r="r" b="b"/>
              <a:pathLst>
                <a:path w="448818" h="359029">
                  <a:moveTo>
                    <a:pt x="0" y="0"/>
                  </a:moveTo>
                  <a:lnTo>
                    <a:pt x="448818" y="0"/>
                  </a:lnTo>
                  <a:lnTo>
                    <a:pt x="448818" y="359029"/>
                  </a:lnTo>
                  <a:lnTo>
                    <a:pt x="0" y="359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7" r="-11"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867348" y="8273053"/>
            <a:ext cx="15159190" cy="515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6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Formula used: </a:t>
            </a:r>
            <a:r>
              <a:rPr lang="en-US" sz="2060" b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Total Sales = Quantity × Unit Price</a:t>
            </a:r>
            <a:r>
              <a:rPr lang="en-US" sz="206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— applied using Excel's cell referencing (e.g., =B2*C2)</a:t>
            </a:r>
            <a:endParaRPr lang="en-US" sz="206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83596"/>
            <a:ext cx="11824097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Steps in Excel: From Data to Insight</a:t>
            </a:r>
            <a:endParaRPr lang="en-US" sz="5560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2804817" y="2355647"/>
            <a:ext cx="12678366" cy="5802516"/>
            <a:chOff x="0" y="0"/>
            <a:chExt cx="16904487" cy="773668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6904463" cy="7736713"/>
            </a:xfrm>
            <a:custGeom>
              <a:avLst/>
              <a:gdLst/>
              <a:ahLst/>
              <a:cxnLst/>
              <a:rect l="l" t="t" r="r" b="b"/>
              <a:pathLst>
                <a:path w="16904463" h="7736713">
                  <a:moveTo>
                    <a:pt x="0" y="0"/>
                  </a:moveTo>
                  <a:lnTo>
                    <a:pt x="16904463" y="0"/>
                  </a:lnTo>
                  <a:lnTo>
                    <a:pt x="16904463" y="7736713"/>
                  </a:lnTo>
                  <a:lnTo>
                    <a:pt x="0" y="7736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3" r="-13"/>
              </a:stretch>
            </a:blipFill>
          </p:spPr>
        </p:sp>
      </p:grpSp>
      <p:sp>
        <p:nvSpPr>
          <p:cNvPr id="9" name="Freeform 9" descr="preencoded.png"/>
          <p:cNvSpPr/>
          <p:nvPr/>
        </p:nvSpPr>
        <p:spPr>
          <a:xfrm>
            <a:off x="13238988" y="3804380"/>
            <a:ext cx="815169" cy="815169"/>
          </a:xfrm>
          <a:custGeom>
            <a:avLst/>
            <a:gdLst/>
            <a:ahLst/>
            <a:cxnLst/>
            <a:rect l="l" t="t" r="r" b="b"/>
            <a:pathLst>
              <a:path w="815169" h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32" r="-523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512726" y="6541456"/>
            <a:ext cx="2380288" cy="926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87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Find MAX/MIN</a:t>
            </a:r>
            <a:endParaRPr lang="en-US" sz="287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" name="Freeform 11" descr="preencoded.png"/>
          <p:cNvSpPr/>
          <p:nvPr/>
        </p:nvSpPr>
        <p:spPr>
          <a:xfrm>
            <a:off x="10254710" y="3805914"/>
            <a:ext cx="815169" cy="815169"/>
          </a:xfrm>
          <a:custGeom>
            <a:avLst/>
            <a:gdLst/>
            <a:ahLst/>
            <a:cxnLst/>
            <a:rect l="l" t="t" r="r" b="b"/>
            <a:pathLst>
              <a:path w="815169" h="815169">
                <a:moveTo>
                  <a:pt x="0" y="0"/>
                </a:moveTo>
                <a:lnTo>
                  <a:pt x="815169" y="0"/>
                </a:lnTo>
                <a:lnTo>
                  <a:pt x="815169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44" r="-174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512913" y="6770722"/>
            <a:ext cx="2380288" cy="46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87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Revenue</a:t>
            </a:r>
            <a:endParaRPr lang="en-US" sz="287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" name="Freeform 13" descr="preencoded.png"/>
          <p:cNvSpPr/>
          <p:nvPr/>
        </p:nvSpPr>
        <p:spPr>
          <a:xfrm>
            <a:off x="7271204" y="3805914"/>
            <a:ext cx="815169" cy="815169"/>
          </a:xfrm>
          <a:custGeom>
            <a:avLst/>
            <a:gdLst/>
            <a:ahLst/>
            <a:cxnLst/>
            <a:rect l="l" t="t" r="r" b="b"/>
            <a:pathLst>
              <a:path w="815169" h="815169">
                <a:moveTo>
                  <a:pt x="0" y="0"/>
                </a:moveTo>
                <a:lnTo>
                  <a:pt x="815169" y="0"/>
                </a:lnTo>
                <a:lnTo>
                  <a:pt x="815169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6279" b="-16279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529407" y="6770722"/>
            <a:ext cx="2380288" cy="46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87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SUM Total</a:t>
            </a:r>
            <a:endParaRPr lang="en-US" sz="287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Freeform 15" descr="preencoded.png"/>
          <p:cNvSpPr/>
          <p:nvPr/>
        </p:nvSpPr>
        <p:spPr>
          <a:xfrm>
            <a:off x="4271391" y="3805914"/>
            <a:ext cx="815169" cy="815169"/>
          </a:xfrm>
          <a:custGeom>
            <a:avLst/>
            <a:gdLst/>
            <a:ahLst/>
            <a:cxnLst/>
            <a:rect l="l" t="t" r="r" b="b"/>
            <a:pathLst>
              <a:path w="815169" h="815169">
                <a:moveTo>
                  <a:pt x="0" y="0"/>
                </a:moveTo>
                <a:lnTo>
                  <a:pt x="815169" y="0"/>
                </a:lnTo>
                <a:lnTo>
                  <a:pt x="815169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9767" r="-1976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480683" y="6770722"/>
            <a:ext cx="2380288" cy="46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87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Enter Data</a:t>
            </a:r>
            <a:endParaRPr lang="en-US" sz="287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92238" y="8381848"/>
            <a:ext cx="16303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Following this structured workflow ensures consistent, repeatable analysis — and reduces the risk of formula errors across the dataset.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69156"/>
            <a:ext cx="6025010" cy="77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5"/>
              </a:lnSpc>
            </a:pPr>
            <a:r>
              <a:rPr lang="en-US" sz="4685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Data Preprocessing</a:t>
            </a:r>
            <a:endParaRPr lang="en-US" sz="4685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77951" y="2164556"/>
            <a:ext cx="5352602" cy="2218734"/>
            <a:chOff x="0" y="0"/>
            <a:chExt cx="7136803" cy="2958313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7098792" cy="2920238"/>
            </a:xfrm>
            <a:custGeom>
              <a:avLst/>
              <a:gdLst/>
              <a:ahLst/>
              <a:cxnLst/>
              <a:rect l="l" t="t" r="r" b="b"/>
              <a:pathLst>
                <a:path w="7098792" h="2920238">
                  <a:moveTo>
                    <a:pt x="0" y="48260"/>
                  </a:moveTo>
                  <a:cubicBezTo>
                    <a:pt x="0" y="21590"/>
                    <a:pt x="21717" y="0"/>
                    <a:pt x="48641" y="0"/>
                  </a:cubicBezTo>
                  <a:lnTo>
                    <a:pt x="7050151" y="0"/>
                  </a:lnTo>
                  <a:cubicBezTo>
                    <a:pt x="7076948" y="0"/>
                    <a:pt x="7098792" y="21590"/>
                    <a:pt x="7098792" y="48260"/>
                  </a:cubicBezTo>
                  <a:lnTo>
                    <a:pt x="7098792" y="2871978"/>
                  </a:lnTo>
                  <a:cubicBezTo>
                    <a:pt x="7098792" y="2898648"/>
                    <a:pt x="7077075" y="2920238"/>
                    <a:pt x="7050151" y="2920238"/>
                  </a:cubicBezTo>
                  <a:lnTo>
                    <a:pt x="48641" y="2920238"/>
                  </a:lnTo>
                  <a:cubicBezTo>
                    <a:pt x="21844" y="2920238"/>
                    <a:pt x="0" y="2898648"/>
                    <a:pt x="0" y="2871978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136892" cy="2958338"/>
            </a:xfrm>
            <a:custGeom>
              <a:avLst/>
              <a:gdLst/>
              <a:ahLst/>
              <a:cxnLst/>
              <a:rect l="l" t="t" r="r" b="b"/>
              <a:pathLst>
                <a:path w="7136892" h="2958338">
                  <a:moveTo>
                    <a:pt x="0" y="67310"/>
                  </a:moveTo>
                  <a:cubicBezTo>
                    <a:pt x="0" y="29972"/>
                    <a:pt x="30353" y="0"/>
                    <a:pt x="67691" y="0"/>
                  </a:cubicBezTo>
                  <a:lnTo>
                    <a:pt x="7069201" y="0"/>
                  </a:lnTo>
                  <a:lnTo>
                    <a:pt x="7069201" y="19050"/>
                  </a:lnTo>
                  <a:lnTo>
                    <a:pt x="7069201" y="0"/>
                  </a:lnTo>
                  <a:cubicBezTo>
                    <a:pt x="7106412" y="0"/>
                    <a:pt x="7136892" y="29972"/>
                    <a:pt x="7136892" y="67310"/>
                  </a:cubicBezTo>
                  <a:lnTo>
                    <a:pt x="7117842" y="67310"/>
                  </a:lnTo>
                  <a:lnTo>
                    <a:pt x="7136892" y="67310"/>
                  </a:lnTo>
                  <a:lnTo>
                    <a:pt x="7136892" y="2891028"/>
                  </a:lnTo>
                  <a:lnTo>
                    <a:pt x="7117842" y="2891028"/>
                  </a:lnTo>
                  <a:lnTo>
                    <a:pt x="7136892" y="2891028"/>
                  </a:lnTo>
                  <a:cubicBezTo>
                    <a:pt x="7136892" y="2928366"/>
                    <a:pt x="7106539" y="2958338"/>
                    <a:pt x="7069201" y="2958338"/>
                  </a:cubicBezTo>
                  <a:lnTo>
                    <a:pt x="7069201" y="2939288"/>
                  </a:lnTo>
                  <a:lnTo>
                    <a:pt x="7069201" y="2958338"/>
                  </a:lnTo>
                  <a:lnTo>
                    <a:pt x="67691" y="2958338"/>
                  </a:lnTo>
                  <a:lnTo>
                    <a:pt x="67691" y="2939288"/>
                  </a:lnTo>
                  <a:lnTo>
                    <a:pt x="67691" y="2958338"/>
                  </a:lnTo>
                  <a:cubicBezTo>
                    <a:pt x="30480" y="2958338"/>
                    <a:pt x="0" y="2928366"/>
                    <a:pt x="0" y="2891028"/>
                  </a:cubicBezTo>
                  <a:lnTo>
                    <a:pt x="0" y="67310"/>
                  </a:lnTo>
                  <a:lnTo>
                    <a:pt x="19050" y="67310"/>
                  </a:lnTo>
                  <a:lnTo>
                    <a:pt x="0" y="67310"/>
                  </a:lnTo>
                  <a:moveTo>
                    <a:pt x="38100" y="67310"/>
                  </a:moveTo>
                  <a:lnTo>
                    <a:pt x="38100" y="2891028"/>
                  </a:lnTo>
                  <a:lnTo>
                    <a:pt x="19050" y="2891028"/>
                  </a:lnTo>
                  <a:lnTo>
                    <a:pt x="38100" y="2891028"/>
                  </a:lnTo>
                  <a:cubicBezTo>
                    <a:pt x="38100" y="2907030"/>
                    <a:pt x="51181" y="2920238"/>
                    <a:pt x="67691" y="2920238"/>
                  </a:cubicBezTo>
                  <a:lnTo>
                    <a:pt x="7069201" y="2920238"/>
                  </a:lnTo>
                  <a:cubicBezTo>
                    <a:pt x="7085584" y="2920238"/>
                    <a:pt x="7098792" y="2907030"/>
                    <a:pt x="7098792" y="2891028"/>
                  </a:cubicBezTo>
                  <a:lnTo>
                    <a:pt x="7098792" y="67310"/>
                  </a:lnTo>
                  <a:cubicBezTo>
                    <a:pt x="7098792" y="51308"/>
                    <a:pt x="7085711" y="38100"/>
                    <a:pt x="7069201" y="38100"/>
                  </a:cubicBezTo>
                  <a:lnTo>
                    <a:pt x="67691" y="38100"/>
                  </a:lnTo>
                  <a:lnTo>
                    <a:pt x="67691" y="19050"/>
                  </a:lnTo>
                  <a:lnTo>
                    <a:pt x="67691" y="38100"/>
                  </a:lnTo>
                  <a:cubicBezTo>
                    <a:pt x="51181" y="38100"/>
                    <a:pt x="38100" y="51308"/>
                    <a:pt x="38100" y="67310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020813" y="2207419"/>
            <a:ext cx="963959" cy="2133009"/>
            <a:chOff x="0" y="0"/>
            <a:chExt cx="1285278" cy="28440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5367" cy="2844038"/>
            </a:xfrm>
            <a:custGeom>
              <a:avLst/>
              <a:gdLst/>
              <a:ahLst/>
              <a:cxnLst/>
              <a:rect l="l" t="t" r="r" b="b"/>
              <a:pathLst>
                <a:path w="1285367" h="2844038">
                  <a:moveTo>
                    <a:pt x="0" y="2540"/>
                  </a:moveTo>
                  <a:cubicBezTo>
                    <a:pt x="0" y="1143"/>
                    <a:pt x="1143" y="0"/>
                    <a:pt x="2540" y="0"/>
                  </a:cubicBezTo>
                  <a:lnTo>
                    <a:pt x="1282827" y="0"/>
                  </a:lnTo>
                  <a:cubicBezTo>
                    <a:pt x="1284224" y="0"/>
                    <a:pt x="1285367" y="1143"/>
                    <a:pt x="1285367" y="2540"/>
                  </a:cubicBezTo>
                  <a:lnTo>
                    <a:pt x="1285367" y="2841498"/>
                  </a:lnTo>
                  <a:cubicBezTo>
                    <a:pt x="1285367" y="2842895"/>
                    <a:pt x="1284224" y="2844038"/>
                    <a:pt x="1282827" y="2844038"/>
                  </a:cubicBezTo>
                  <a:lnTo>
                    <a:pt x="2540" y="2844038"/>
                  </a:lnTo>
                  <a:cubicBezTo>
                    <a:pt x="1143" y="2844038"/>
                    <a:pt x="0" y="2842895"/>
                    <a:pt x="0" y="2841498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322041" y="3095625"/>
            <a:ext cx="361502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81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lang="en-US" sz="281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89559" y="2438848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231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Remove Duplicates</a:t>
            </a:r>
            <a:endParaRPr lang="en-US" sz="231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89559" y="2972543"/>
            <a:ext cx="3857177" cy="112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87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Use </a:t>
            </a:r>
            <a:r>
              <a:rPr lang="en-US" sz="1875" i="1">
                <a:solidFill>
                  <a:srgbClr val="15213F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Data → Remove Duplicates</a:t>
            </a:r>
            <a:r>
              <a:rPr lang="en-US" sz="187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to eliminate repeated records that skew totals.</a:t>
            </a:r>
            <a:endParaRPr lang="en-US" sz="187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977951" y="4559503"/>
            <a:ext cx="5352602" cy="1871662"/>
            <a:chOff x="0" y="0"/>
            <a:chExt cx="7136803" cy="2495550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7098665" cy="2457450"/>
            </a:xfrm>
            <a:custGeom>
              <a:avLst/>
              <a:gdLst/>
              <a:ahLst/>
              <a:cxnLst/>
              <a:rect l="l" t="t" r="r" b="b"/>
              <a:pathLst>
                <a:path w="7098665" h="2457450">
                  <a:moveTo>
                    <a:pt x="0" y="48133"/>
                  </a:moveTo>
                  <a:cubicBezTo>
                    <a:pt x="0" y="21590"/>
                    <a:pt x="21844" y="0"/>
                    <a:pt x="48641" y="0"/>
                  </a:cubicBezTo>
                  <a:lnTo>
                    <a:pt x="7050024" y="0"/>
                  </a:lnTo>
                  <a:cubicBezTo>
                    <a:pt x="7076948" y="0"/>
                    <a:pt x="7098665" y="21590"/>
                    <a:pt x="7098665" y="48133"/>
                  </a:cubicBezTo>
                  <a:lnTo>
                    <a:pt x="7098665" y="2409317"/>
                  </a:lnTo>
                  <a:cubicBezTo>
                    <a:pt x="7098665" y="2435987"/>
                    <a:pt x="7076821" y="2457450"/>
                    <a:pt x="7050024" y="2457450"/>
                  </a:cubicBezTo>
                  <a:lnTo>
                    <a:pt x="48641" y="2457450"/>
                  </a:lnTo>
                  <a:cubicBezTo>
                    <a:pt x="21717" y="2457450"/>
                    <a:pt x="0" y="2435860"/>
                    <a:pt x="0" y="2409317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136765" cy="2495550"/>
            </a:xfrm>
            <a:custGeom>
              <a:avLst/>
              <a:gdLst/>
              <a:ahLst/>
              <a:cxnLst/>
              <a:rect l="l" t="t" r="r" b="b"/>
              <a:pathLst>
                <a:path w="7136765" h="2495550">
                  <a:moveTo>
                    <a:pt x="0" y="67183"/>
                  </a:moveTo>
                  <a:cubicBezTo>
                    <a:pt x="0" y="29972"/>
                    <a:pt x="30480" y="0"/>
                    <a:pt x="67691" y="0"/>
                  </a:cubicBezTo>
                  <a:lnTo>
                    <a:pt x="7069074" y="0"/>
                  </a:lnTo>
                  <a:lnTo>
                    <a:pt x="7069074" y="19050"/>
                  </a:lnTo>
                  <a:lnTo>
                    <a:pt x="7069074" y="0"/>
                  </a:lnTo>
                  <a:cubicBezTo>
                    <a:pt x="7106285" y="0"/>
                    <a:pt x="7136765" y="29972"/>
                    <a:pt x="7136765" y="67183"/>
                  </a:cubicBezTo>
                  <a:lnTo>
                    <a:pt x="7117715" y="67183"/>
                  </a:lnTo>
                  <a:lnTo>
                    <a:pt x="7136765" y="67183"/>
                  </a:lnTo>
                  <a:lnTo>
                    <a:pt x="7136765" y="2428367"/>
                  </a:lnTo>
                  <a:lnTo>
                    <a:pt x="7117715" y="2428367"/>
                  </a:lnTo>
                  <a:lnTo>
                    <a:pt x="7136765" y="2428367"/>
                  </a:lnTo>
                  <a:cubicBezTo>
                    <a:pt x="7136765" y="2465705"/>
                    <a:pt x="7106285" y="2495550"/>
                    <a:pt x="7069074" y="2495550"/>
                  </a:cubicBezTo>
                  <a:lnTo>
                    <a:pt x="7069074" y="2476500"/>
                  </a:lnTo>
                  <a:lnTo>
                    <a:pt x="7069074" y="2495550"/>
                  </a:lnTo>
                  <a:lnTo>
                    <a:pt x="67691" y="2495550"/>
                  </a:lnTo>
                  <a:lnTo>
                    <a:pt x="67691" y="2476500"/>
                  </a:lnTo>
                  <a:lnTo>
                    <a:pt x="67691" y="2495550"/>
                  </a:lnTo>
                  <a:cubicBezTo>
                    <a:pt x="30480" y="2495550"/>
                    <a:pt x="0" y="2465578"/>
                    <a:pt x="0" y="2428367"/>
                  </a:cubicBezTo>
                  <a:lnTo>
                    <a:pt x="0" y="67183"/>
                  </a:lnTo>
                  <a:lnTo>
                    <a:pt x="19050" y="67183"/>
                  </a:lnTo>
                  <a:lnTo>
                    <a:pt x="0" y="67183"/>
                  </a:lnTo>
                  <a:moveTo>
                    <a:pt x="38100" y="67183"/>
                  </a:moveTo>
                  <a:lnTo>
                    <a:pt x="38100" y="2428367"/>
                  </a:lnTo>
                  <a:lnTo>
                    <a:pt x="19050" y="2428367"/>
                  </a:lnTo>
                  <a:lnTo>
                    <a:pt x="38100" y="2428367"/>
                  </a:lnTo>
                  <a:cubicBezTo>
                    <a:pt x="38100" y="2444242"/>
                    <a:pt x="51181" y="2457450"/>
                    <a:pt x="67691" y="2457450"/>
                  </a:cubicBezTo>
                  <a:lnTo>
                    <a:pt x="7069074" y="2457450"/>
                  </a:lnTo>
                  <a:cubicBezTo>
                    <a:pt x="7085584" y="2457450"/>
                    <a:pt x="7098665" y="2444242"/>
                    <a:pt x="7098665" y="2428367"/>
                  </a:cubicBezTo>
                  <a:lnTo>
                    <a:pt x="7098665" y="67183"/>
                  </a:lnTo>
                  <a:cubicBezTo>
                    <a:pt x="7098665" y="51308"/>
                    <a:pt x="7085584" y="38100"/>
                    <a:pt x="7069074" y="38100"/>
                  </a:cubicBezTo>
                  <a:lnTo>
                    <a:pt x="67691" y="38100"/>
                  </a:lnTo>
                  <a:lnTo>
                    <a:pt x="67691" y="19050"/>
                  </a:lnTo>
                  <a:lnTo>
                    <a:pt x="67691" y="38100"/>
                  </a:lnTo>
                  <a:cubicBezTo>
                    <a:pt x="51181" y="38100"/>
                    <a:pt x="38100" y="51308"/>
                    <a:pt x="38100" y="67183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020813" y="4602366"/>
            <a:ext cx="963959" cy="1785938"/>
            <a:chOff x="0" y="0"/>
            <a:chExt cx="1285278" cy="23812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5367" cy="2381250"/>
            </a:xfrm>
            <a:custGeom>
              <a:avLst/>
              <a:gdLst/>
              <a:ahLst/>
              <a:cxnLst/>
              <a:rect l="l" t="t" r="r" b="b"/>
              <a:pathLst>
                <a:path w="1285367" h="2381250">
                  <a:moveTo>
                    <a:pt x="0" y="2540"/>
                  </a:moveTo>
                  <a:cubicBezTo>
                    <a:pt x="0" y="1143"/>
                    <a:pt x="1143" y="0"/>
                    <a:pt x="2540" y="0"/>
                  </a:cubicBezTo>
                  <a:lnTo>
                    <a:pt x="1282827" y="0"/>
                  </a:lnTo>
                  <a:cubicBezTo>
                    <a:pt x="1284224" y="0"/>
                    <a:pt x="1285367" y="1143"/>
                    <a:pt x="1285367" y="2540"/>
                  </a:cubicBezTo>
                  <a:lnTo>
                    <a:pt x="1285367" y="2378710"/>
                  </a:lnTo>
                  <a:cubicBezTo>
                    <a:pt x="1285367" y="2380107"/>
                    <a:pt x="1284224" y="2381250"/>
                    <a:pt x="1282827" y="2381250"/>
                  </a:cubicBezTo>
                  <a:lnTo>
                    <a:pt x="2540" y="2381250"/>
                  </a:lnTo>
                  <a:cubicBezTo>
                    <a:pt x="1143" y="2381250"/>
                    <a:pt x="0" y="2380107"/>
                    <a:pt x="0" y="23787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22041" y="5317036"/>
            <a:ext cx="361502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81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lang="en-US" sz="281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189559" y="4833785"/>
            <a:ext cx="3288506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231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Handle Missing Values</a:t>
            </a:r>
            <a:endParaRPr lang="en-US" sz="231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89559" y="5367490"/>
            <a:ext cx="3857177" cy="77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87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Identify blank cells using ISBLANK() and fill or flag them appropriately.</a:t>
            </a:r>
            <a:endParaRPr lang="en-US" sz="187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977951" y="6607378"/>
            <a:ext cx="5352602" cy="2575322"/>
            <a:chOff x="0" y="0"/>
            <a:chExt cx="7136803" cy="3433762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7098792" cy="3395599"/>
            </a:xfrm>
            <a:custGeom>
              <a:avLst/>
              <a:gdLst/>
              <a:ahLst/>
              <a:cxnLst/>
              <a:rect l="l" t="t" r="r" b="b"/>
              <a:pathLst>
                <a:path w="7098792" h="3395599">
                  <a:moveTo>
                    <a:pt x="0" y="48133"/>
                  </a:moveTo>
                  <a:cubicBezTo>
                    <a:pt x="0" y="21590"/>
                    <a:pt x="21717" y="0"/>
                    <a:pt x="48514" y="0"/>
                  </a:cubicBezTo>
                  <a:lnTo>
                    <a:pt x="7050278" y="0"/>
                  </a:lnTo>
                  <a:cubicBezTo>
                    <a:pt x="7077075" y="0"/>
                    <a:pt x="7098792" y="21590"/>
                    <a:pt x="7098792" y="48133"/>
                  </a:cubicBezTo>
                  <a:lnTo>
                    <a:pt x="7098792" y="3347466"/>
                  </a:lnTo>
                  <a:cubicBezTo>
                    <a:pt x="7098792" y="3374136"/>
                    <a:pt x="7077075" y="3395599"/>
                    <a:pt x="7050278" y="3395599"/>
                  </a:cubicBezTo>
                  <a:lnTo>
                    <a:pt x="48514" y="3395599"/>
                  </a:lnTo>
                  <a:cubicBezTo>
                    <a:pt x="21717" y="3395599"/>
                    <a:pt x="0" y="3374009"/>
                    <a:pt x="0" y="3347466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7136892" cy="3433699"/>
            </a:xfrm>
            <a:custGeom>
              <a:avLst/>
              <a:gdLst/>
              <a:ahLst/>
              <a:cxnLst/>
              <a:rect l="l" t="t" r="r" b="b"/>
              <a:pathLst>
                <a:path w="7136892" h="3433699">
                  <a:moveTo>
                    <a:pt x="0" y="67183"/>
                  </a:moveTo>
                  <a:cubicBezTo>
                    <a:pt x="0" y="29972"/>
                    <a:pt x="30353" y="0"/>
                    <a:pt x="67564" y="0"/>
                  </a:cubicBezTo>
                  <a:lnTo>
                    <a:pt x="7069328" y="0"/>
                  </a:lnTo>
                  <a:lnTo>
                    <a:pt x="7069328" y="19050"/>
                  </a:lnTo>
                  <a:lnTo>
                    <a:pt x="7069328" y="0"/>
                  </a:lnTo>
                  <a:cubicBezTo>
                    <a:pt x="7106539" y="0"/>
                    <a:pt x="7136892" y="29972"/>
                    <a:pt x="7136892" y="67183"/>
                  </a:cubicBezTo>
                  <a:lnTo>
                    <a:pt x="7117842" y="67183"/>
                  </a:lnTo>
                  <a:lnTo>
                    <a:pt x="7136892" y="67183"/>
                  </a:lnTo>
                  <a:lnTo>
                    <a:pt x="7136892" y="3366516"/>
                  </a:lnTo>
                  <a:lnTo>
                    <a:pt x="7117842" y="3366516"/>
                  </a:lnTo>
                  <a:lnTo>
                    <a:pt x="7136892" y="3366516"/>
                  </a:lnTo>
                  <a:cubicBezTo>
                    <a:pt x="7136892" y="3403727"/>
                    <a:pt x="7106539" y="3433699"/>
                    <a:pt x="7069328" y="3433699"/>
                  </a:cubicBezTo>
                  <a:lnTo>
                    <a:pt x="7069328" y="3414649"/>
                  </a:lnTo>
                  <a:lnTo>
                    <a:pt x="7069328" y="3433699"/>
                  </a:lnTo>
                  <a:lnTo>
                    <a:pt x="67564" y="3433699"/>
                  </a:lnTo>
                  <a:lnTo>
                    <a:pt x="67564" y="3414649"/>
                  </a:lnTo>
                  <a:lnTo>
                    <a:pt x="67564" y="3433699"/>
                  </a:lnTo>
                  <a:cubicBezTo>
                    <a:pt x="30353" y="3433699"/>
                    <a:pt x="0" y="3403727"/>
                    <a:pt x="0" y="3366516"/>
                  </a:cubicBezTo>
                  <a:lnTo>
                    <a:pt x="0" y="67183"/>
                  </a:lnTo>
                  <a:lnTo>
                    <a:pt x="19050" y="67183"/>
                  </a:lnTo>
                  <a:lnTo>
                    <a:pt x="0" y="67183"/>
                  </a:lnTo>
                  <a:moveTo>
                    <a:pt x="38100" y="67183"/>
                  </a:moveTo>
                  <a:lnTo>
                    <a:pt x="38100" y="3366516"/>
                  </a:lnTo>
                  <a:lnTo>
                    <a:pt x="19050" y="3366516"/>
                  </a:lnTo>
                  <a:lnTo>
                    <a:pt x="38100" y="3366516"/>
                  </a:lnTo>
                  <a:cubicBezTo>
                    <a:pt x="38100" y="3382518"/>
                    <a:pt x="51181" y="3395599"/>
                    <a:pt x="67564" y="3395599"/>
                  </a:cubicBezTo>
                  <a:lnTo>
                    <a:pt x="7069328" y="3395599"/>
                  </a:lnTo>
                  <a:cubicBezTo>
                    <a:pt x="7085711" y="3395599"/>
                    <a:pt x="7098792" y="3382391"/>
                    <a:pt x="7098792" y="3366516"/>
                  </a:cubicBezTo>
                  <a:lnTo>
                    <a:pt x="7098792" y="67183"/>
                  </a:lnTo>
                  <a:cubicBezTo>
                    <a:pt x="7098792" y="51181"/>
                    <a:pt x="7085711" y="38100"/>
                    <a:pt x="7069328" y="38100"/>
                  </a:cubicBezTo>
                  <a:lnTo>
                    <a:pt x="67564" y="38100"/>
                  </a:lnTo>
                  <a:lnTo>
                    <a:pt x="67564" y="19050"/>
                  </a:lnTo>
                  <a:lnTo>
                    <a:pt x="67564" y="38100"/>
                  </a:lnTo>
                  <a:cubicBezTo>
                    <a:pt x="51181" y="38100"/>
                    <a:pt x="38100" y="51308"/>
                    <a:pt x="38100" y="67183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1020813" y="6650241"/>
            <a:ext cx="963959" cy="2489597"/>
            <a:chOff x="0" y="0"/>
            <a:chExt cx="1285278" cy="331946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5367" cy="3319526"/>
            </a:xfrm>
            <a:custGeom>
              <a:avLst/>
              <a:gdLst/>
              <a:ahLst/>
              <a:cxnLst/>
              <a:rect l="l" t="t" r="r" b="b"/>
              <a:pathLst>
                <a:path w="1285367" h="3319526">
                  <a:moveTo>
                    <a:pt x="0" y="2540"/>
                  </a:moveTo>
                  <a:cubicBezTo>
                    <a:pt x="0" y="1143"/>
                    <a:pt x="1143" y="0"/>
                    <a:pt x="2540" y="0"/>
                  </a:cubicBezTo>
                  <a:lnTo>
                    <a:pt x="1282827" y="0"/>
                  </a:lnTo>
                  <a:cubicBezTo>
                    <a:pt x="1284224" y="0"/>
                    <a:pt x="1285367" y="1143"/>
                    <a:pt x="1285367" y="2540"/>
                  </a:cubicBezTo>
                  <a:lnTo>
                    <a:pt x="1285367" y="3316986"/>
                  </a:lnTo>
                  <a:cubicBezTo>
                    <a:pt x="1285367" y="3318383"/>
                    <a:pt x="1284224" y="3319526"/>
                    <a:pt x="1282827" y="3319526"/>
                  </a:cubicBezTo>
                  <a:lnTo>
                    <a:pt x="2540" y="3319526"/>
                  </a:lnTo>
                  <a:cubicBezTo>
                    <a:pt x="1143" y="3319526"/>
                    <a:pt x="0" y="3318383"/>
                    <a:pt x="0" y="3316986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322041" y="7716736"/>
            <a:ext cx="361502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81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lang="en-US" sz="281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189559" y="6881660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231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Correct Formatting</a:t>
            </a:r>
            <a:endParaRPr lang="en-US" sz="231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189559" y="7415365"/>
            <a:ext cx="3857177" cy="148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87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Ensure numbers are formatted as Currency or Number — not stored as text — to enable accurate calculations.</a:t>
            </a:r>
            <a:endParaRPr lang="en-US" sz="187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31" name="Group 31"/>
          <p:cNvGrpSpPr/>
          <p:nvPr/>
        </p:nvGrpSpPr>
        <p:grpSpPr>
          <a:xfrm rot="0">
            <a:off x="6913664" y="2729360"/>
            <a:ext cx="8832647" cy="5888384"/>
            <a:chOff x="0" y="0"/>
            <a:chExt cx="11776862" cy="7851178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11776837" cy="7851140"/>
            </a:xfrm>
            <a:custGeom>
              <a:avLst/>
              <a:gdLst/>
              <a:ahLst/>
              <a:cxnLst/>
              <a:rect l="l" t="t" r="r" b="b"/>
              <a:pathLst>
                <a:path w="11776837" h="7851140">
                  <a:moveTo>
                    <a:pt x="0" y="0"/>
                  </a:moveTo>
                  <a:lnTo>
                    <a:pt x="11776837" y="0"/>
                  </a:lnTo>
                  <a:lnTo>
                    <a:pt x="11776837" y="7851140"/>
                  </a:lnTo>
                  <a:lnTo>
                    <a:pt x="0" y="7851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64241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Data Visualization</a:t>
            </a:r>
            <a:endParaRPr lang="en-US" sz="5560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2238" y="2513409"/>
            <a:ext cx="10355161" cy="5798791"/>
            <a:chOff x="0" y="0"/>
            <a:chExt cx="13806881" cy="773172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806932" cy="7731760"/>
            </a:xfrm>
            <a:custGeom>
              <a:avLst/>
              <a:gdLst/>
              <a:ahLst/>
              <a:cxnLst/>
              <a:rect l="l" t="t" r="r" b="b"/>
              <a:pathLst>
                <a:path w="13806932" h="7731760">
                  <a:moveTo>
                    <a:pt x="0" y="0"/>
                  </a:moveTo>
                  <a:lnTo>
                    <a:pt x="13806932" y="0"/>
                  </a:lnTo>
                  <a:lnTo>
                    <a:pt x="13806932" y="7731760"/>
                  </a:lnTo>
                  <a:lnTo>
                    <a:pt x="0" y="77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3" b="-2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2048677" y="3938435"/>
            <a:ext cx="5254828" cy="1679077"/>
            <a:chOff x="0" y="0"/>
            <a:chExt cx="7006438" cy="223876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7006463" cy="2238756"/>
            </a:xfrm>
            <a:custGeom>
              <a:avLst/>
              <a:gdLst/>
              <a:ahLst/>
              <a:cxnLst/>
              <a:rect l="l" t="t" r="r" b="b"/>
              <a:pathLst>
                <a:path w="7006463" h="2238756">
                  <a:moveTo>
                    <a:pt x="0" y="0"/>
                  </a:moveTo>
                  <a:lnTo>
                    <a:pt x="7006463" y="0"/>
                  </a:lnTo>
                  <a:lnTo>
                    <a:pt x="7006463" y="2238756"/>
                  </a:lnTo>
                  <a:lnTo>
                    <a:pt x="0" y="2238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8" r="-10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2048677" y="5655621"/>
            <a:ext cx="283521" cy="283521"/>
            <a:chOff x="0" y="0"/>
            <a:chExt cx="378028" cy="3780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101C3C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2408398" y="5693721"/>
            <a:ext cx="876595" cy="245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Laptop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4771341" y="5655621"/>
            <a:ext cx="283521" cy="283521"/>
            <a:chOff x="0" y="0"/>
            <a:chExt cx="378028" cy="3780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203978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5131053" y="5693721"/>
            <a:ext cx="1550194" cy="245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Smartphone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2048677" y="6129633"/>
            <a:ext cx="283521" cy="283521"/>
            <a:chOff x="0" y="0"/>
            <a:chExt cx="378028" cy="3780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3155B3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408398" y="6167733"/>
            <a:ext cx="1596180" cy="245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Headphones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14771341" y="6129633"/>
            <a:ext cx="283521" cy="283521"/>
            <a:chOff x="0" y="0"/>
            <a:chExt cx="378028" cy="3780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5C7DD3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5131053" y="6167733"/>
            <a:ext cx="778669" cy="245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Tablet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12048677" y="6603654"/>
            <a:ext cx="283521" cy="283521"/>
            <a:chOff x="0" y="0"/>
            <a:chExt cx="378028" cy="3780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98ACE3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408398" y="6641754"/>
            <a:ext cx="1530848" cy="245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Smartwatch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92238" y="8854831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185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Bar chart compares absolute sales by product; donut chart shows each product's share of total revenue.</a:t>
            </a:r>
            <a:endParaRPr lang="en-US" sz="2185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99117" y="148676"/>
            <a:ext cx="6659766" cy="9989639"/>
            <a:chOff x="0" y="0"/>
            <a:chExt cx="8879688" cy="133195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879713" cy="13319506"/>
            </a:xfrm>
            <a:custGeom>
              <a:avLst/>
              <a:gdLst/>
              <a:ahLst/>
              <a:cxnLst/>
              <a:rect l="l" t="t" r="r" b="b"/>
              <a:pathLst>
                <a:path w="8879713" h="13319506">
                  <a:moveTo>
                    <a:pt x="0" y="0"/>
                  </a:moveTo>
                  <a:lnTo>
                    <a:pt x="8879713" y="0"/>
                  </a:lnTo>
                  <a:lnTo>
                    <a:pt x="8879713" y="13319506"/>
                  </a:lnTo>
                  <a:lnTo>
                    <a:pt x="0" y="13319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8" y="913362"/>
            <a:ext cx="5890317" cy="639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Advanced Excel Features</a:t>
            </a:r>
            <a:endParaRPr lang="en-US" sz="3875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7850238" y="1760934"/>
            <a:ext cx="9445523" cy="1794272"/>
            <a:chOff x="0" y="0"/>
            <a:chExt cx="12594031" cy="23923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4082" cy="2392426"/>
            </a:xfrm>
            <a:custGeom>
              <a:avLst/>
              <a:gdLst/>
              <a:ahLst/>
              <a:cxnLst/>
              <a:rect l="l" t="t" r="r" b="b"/>
              <a:pathLst>
                <a:path w="12594082" h="239242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2554331" y="0"/>
                  </a:lnTo>
                  <a:cubicBezTo>
                    <a:pt x="12576302" y="0"/>
                    <a:pt x="12594082" y="17780"/>
                    <a:pt x="12594082" y="39751"/>
                  </a:cubicBezTo>
                  <a:lnTo>
                    <a:pt x="12594082" y="2352675"/>
                  </a:lnTo>
                  <a:cubicBezTo>
                    <a:pt x="12594082" y="2374646"/>
                    <a:pt x="12576302" y="2392426"/>
                    <a:pt x="12554331" y="2392426"/>
                  </a:cubicBezTo>
                  <a:lnTo>
                    <a:pt x="39751" y="2392426"/>
                  </a:lnTo>
                  <a:cubicBezTo>
                    <a:pt x="17780" y="2392426"/>
                    <a:pt x="0" y="2374646"/>
                    <a:pt x="0" y="235267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8048625" y="1959321"/>
            <a:ext cx="595312" cy="595312"/>
            <a:chOff x="0" y="0"/>
            <a:chExt cx="793750" cy="79375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793750" cy="793750"/>
            </a:xfrm>
            <a:custGeom>
              <a:avLst/>
              <a:gdLst/>
              <a:ahLst/>
              <a:cxnLst/>
              <a:rect l="l" t="t" r="r" b="b"/>
              <a:pathLst>
                <a:path w="793750" h="793750">
                  <a:moveTo>
                    <a:pt x="0" y="0"/>
                  </a:moveTo>
                  <a:lnTo>
                    <a:pt x="793750" y="0"/>
                  </a:lnTo>
                  <a:lnTo>
                    <a:pt x="793750" y="793750"/>
                  </a:lnTo>
                  <a:lnTo>
                    <a:pt x="0" y="79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5" name="Freeform 15" descr="preencoded.png"/>
          <p:cNvSpPr/>
          <p:nvPr/>
        </p:nvSpPr>
        <p:spPr>
          <a:xfrm>
            <a:off x="8212341" y="2123037"/>
            <a:ext cx="267891" cy="267891"/>
          </a:xfrm>
          <a:custGeom>
            <a:avLst/>
            <a:gdLst/>
            <a:ahLst/>
            <a:cxnLst/>
            <a:rect l="l" t="t" r="r" b="b"/>
            <a:pathLst>
              <a:path w="267891" h="267891">
                <a:moveTo>
                  <a:pt x="0" y="0"/>
                </a:moveTo>
                <a:lnTo>
                  <a:pt x="267890" y="0"/>
                </a:lnTo>
                <a:lnTo>
                  <a:pt x="267890" y="267890"/>
                </a:lnTo>
                <a:lnTo>
                  <a:pt x="0" y="267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448" b="-344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048625" y="2683964"/>
            <a:ext cx="2480815" cy="31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3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IF Function</a:t>
            </a:r>
            <a:endParaRPr lang="en-US" sz="193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48625" y="3048743"/>
            <a:ext cx="9048750" cy="30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Flag products as "High" or "Low" performers based on a sales threshold.</a:t>
            </a:r>
            <a:endParaRPr lang="en-US" sz="15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7850238" y="3694062"/>
            <a:ext cx="9445523" cy="1794272"/>
            <a:chOff x="0" y="0"/>
            <a:chExt cx="12594031" cy="23923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94082" cy="2392426"/>
            </a:xfrm>
            <a:custGeom>
              <a:avLst/>
              <a:gdLst/>
              <a:ahLst/>
              <a:cxnLst/>
              <a:rect l="l" t="t" r="r" b="b"/>
              <a:pathLst>
                <a:path w="12594082" h="239242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2554331" y="0"/>
                  </a:lnTo>
                  <a:cubicBezTo>
                    <a:pt x="12576302" y="0"/>
                    <a:pt x="12594082" y="17780"/>
                    <a:pt x="12594082" y="39751"/>
                  </a:cubicBezTo>
                  <a:lnTo>
                    <a:pt x="12594082" y="2352675"/>
                  </a:lnTo>
                  <a:cubicBezTo>
                    <a:pt x="12594082" y="2374646"/>
                    <a:pt x="12576302" y="2392426"/>
                    <a:pt x="12554331" y="2392426"/>
                  </a:cubicBezTo>
                  <a:lnTo>
                    <a:pt x="39751" y="2392426"/>
                  </a:lnTo>
                  <a:cubicBezTo>
                    <a:pt x="17780" y="2392426"/>
                    <a:pt x="0" y="2374646"/>
                    <a:pt x="0" y="235267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8048625" y="3892448"/>
            <a:ext cx="595312" cy="595312"/>
            <a:chOff x="0" y="0"/>
            <a:chExt cx="793750" cy="79375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93750" cy="793750"/>
            </a:xfrm>
            <a:custGeom>
              <a:avLst/>
              <a:gdLst/>
              <a:ahLst/>
              <a:cxnLst/>
              <a:rect l="l" t="t" r="r" b="b"/>
              <a:pathLst>
                <a:path w="793750" h="793750">
                  <a:moveTo>
                    <a:pt x="0" y="0"/>
                  </a:moveTo>
                  <a:lnTo>
                    <a:pt x="793750" y="0"/>
                  </a:lnTo>
                  <a:lnTo>
                    <a:pt x="793750" y="793750"/>
                  </a:lnTo>
                  <a:lnTo>
                    <a:pt x="0" y="79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Freeform 22" descr="preencoded.png"/>
          <p:cNvSpPr/>
          <p:nvPr/>
        </p:nvSpPr>
        <p:spPr>
          <a:xfrm>
            <a:off x="8212341" y="4056164"/>
            <a:ext cx="267891" cy="267891"/>
          </a:xfrm>
          <a:custGeom>
            <a:avLst/>
            <a:gdLst/>
            <a:ahLst/>
            <a:cxnLst/>
            <a:rect l="l" t="t" r="r" b="b"/>
            <a:pathLst>
              <a:path w="267891" h="267891">
                <a:moveTo>
                  <a:pt x="0" y="0"/>
                </a:moveTo>
                <a:lnTo>
                  <a:pt x="267890" y="0"/>
                </a:lnTo>
                <a:lnTo>
                  <a:pt x="267890" y="267891"/>
                </a:lnTo>
                <a:lnTo>
                  <a:pt x="0" y="2678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724" b="-1724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686800" y="4312291"/>
            <a:ext cx="2737990" cy="6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3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Conditional Formatting</a:t>
            </a:r>
            <a:endParaRPr lang="en-US" sz="193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048625" y="4981870"/>
            <a:ext cx="9048750" cy="30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Instantly highlight top values, low performers, or data ranges with color scales.</a:t>
            </a:r>
            <a:endParaRPr lang="en-US" sz="15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7850238" y="5627189"/>
            <a:ext cx="9445523" cy="1794272"/>
            <a:chOff x="0" y="0"/>
            <a:chExt cx="12594031" cy="23923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594082" cy="2392426"/>
            </a:xfrm>
            <a:custGeom>
              <a:avLst/>
              <a:gdLst/>
              <a:ahLst/>
              <a:cxnLst/>
              <a:rect l="l" t="t" r="r" b="b"/>
              <a:pathLst>
                <a:path w="12594082" h="239242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2554331" y="0"/>
                  </a:lnTo>
                  <a:cubicBezTo>
                    <a:pt x="12576302" y="0"/>
                    <a:pt x="12594082" y="17780"/>
                    <a:pt x="12594082" y="39751"/>
                  </a:cubicBezTo>
                  <a:lnTo>
                    <a:pt x="12594082" y="2352675"/>
                  </a:lnTo>
                  <a:cubicBezTo>
                    <a:pt x="12594082" y="2374646"/>
                    <a:pt x="12576302" y="2392426"/>
                    <a:pt x="12554331" y="2392426"/>
                  </a:cubicBezTo>
                  <a:lnTo>
                    <a:pt x="39751" y="2392426"/>
                  </a:lnTo>
                  <a:cubicBezTo>
                    <a:pt x="17780" y="2392426"/>
                    <a:pt x="0" y="2374646"/>
                    <a:pt x="0" y="235267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27" name="Group 27"/>
          <p:cNvGrpSpPr/>
          <p:nvPr/>
        </p:nvGrpSpPr>
        <p:grpSpPr>
          <a:xfrm rot="0">
            <a:off x="8048625" y="5825576"/>
            <a:ext cx="595312" cy="595312"/>
            <a:chOff x="0" y="0"/>
            <a:chExt cx="793750" cy="793750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793750" cy="793750"/>
            </a:xfrm>
            <a:custGeom>
              <a:avLst/>
              <a:gdLst/>
              <a:ahLst/>
              <a:cxnLst/>
              <a:rect l="l" t="t" r="r" b="b"/>
              <a:pathLst>
                <a:path w="793750" h="793750">
                  <a:moveTo>
                    <a:pt x="0" y="0"/>
                  </a:moveTo>
                  <a:lnTo>
                    <a:pt x="793750" y="0"/>
                  </a:lnTo>
                  <a:lnTo>
                    <a:pt x="793750" y="793750"/>
                  </a:lnTo>
                  <a:lnTo>
                    <a:pt x="0" y="79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9" name="Freeform 29" descr="preencoded.png"/>
          <p:cNvSpPr/>
          <p:nvPr/>
        </p:nvSpPr>
        <p:spPr>
          <a:xfrm>
            <a:off x="8212341" y="5989291"/>
            <a:ext cx="267891" cy="267891"/>
          </a:xfrm>
          <a:custGeom>
            <a:avLst/>
            <a:gdLst/>
            <a:ahLst/>
            <a:cxnLst/>
            <a:rect l="l" t="t" r="r" b="b"/>
            <a:pathLst>
              <a:path w="267891" h="267891">
                <a:moveTo>
                  <a:pt x="0" y="0"/>
                </a:moveTo>
                <a:lnTo>
                  <a:pt x="267890" y="0"/>
                </a:lnTo>
                <a:lnTo>
                  <a:pt x="267890" y="267891"/>
                </a:lnTo>
                <a:lnTo>
                  <a:pt x="0" y="2678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724" r="-1724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048625" y="6550228"/>
            <a:ext cx="2480815" cy="31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3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Sort &amp; Filter</a:t>
            </a:r>
            <a:endParaRPr lang="en-US" sz="193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048625" y="6914998"/>
            <a:ext cx="9048750" cy="30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Quickly isolate specific products, date ranges, or sales brackets for focused analysis.</a:t>
            </a:r>
            <a:endParaRPr lang="en-US" sz="15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32" name="Group 32"/>
          <p:cNvGrpSpPr/>
          <p:nvPr/>
        </p:nvGrpSpPr>
        <p:grpSpPr>
          <a:xfrm rot="0">
            <a:off x="7850238" y="7560316"/>
            <a:ext cx="9445523" cy="1794272"/>
            <a:chOff x="0" y="0"/>
            <a:chExt cx="12594031" cy="239236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94082" cy="2392426"/>
            </a:xfrm>
            <a:custGeom>
              <a:avLst/>
              <a:gdLst/>
              <a:ahLst/>
              <a:cxnLst/>
              <a:rect l="l" t="t" r="r" b="b"/>
              <a:pathLst>
                <a:path w="12594082" h="239242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2554331" y="0"/>
                  </a:lnTo>
                  <a:cubicBezTo>
                    <a:pt x="12576302" y="0"/>
                    <a:pt x="12594082" y="17780"/>
                    <a:pt x="12594082" y="39751"/>
                  </a:cubicBezTo>
                  <a:lnTo>
                    <a:pt x="12594082" y="2352675"/>
                  </a:lnTo>
                  <a:cubicBezTo>
                    <a:pt x="12594082" y="2374646"/>
                    <a:pt x="12576302" y="2392426"/>
                    <a:pt x="12554331" y="2392426"/>
                  </a:cubicBezTo>
                  <a:lnTo>
                    <a:pt x="39751" y="2392426"/>
                  </a:lnTo>
                  <a:cubicBezTo>
                    <a:pt x="17780" y="2392426"/>
                    <a:pt x="0" y="2374646"/>
                    <a:pt x="0" y="235267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34" name="Group 34"/>
          <p:cNvGrpSpPr/>
          <p:nvPr/>
        </p:nvGrpSpPr>
        <p:grpSpPr>
          <a:xfrm rot="0">
            <a:off x="8048625" y="7758703"/>
            <a:ext cx="595312" cy="595312"/>
            <a:chOff x="0" y="0"/>
            <a:chExt cx="793750" cy="793750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793750" cy="793750"/>
            </a:xfrm>
            <a:custGeom>
              <a:avLst/>
              <a:gdLst/>
              <a:ahLst/>
              <a:cxnLst/>
              <a:rect l="l" t="t" r="r" b="b"/>
              <a:pathLst>
                <a:path w="793750" h="793750">
                  <a:moveTo>
                    <a:pt x="0" y="0"/>
                  </a:moveTo>
                  <a:lnTo>
                    <a:pt x="793750" y="0"/>
                  </a:lnTo>
                  <a:lnTo>
                    <a:pt x="793750" y="793750"/>
                  </a:lnTo>
                  <a:lnTo>
                    <a:pt x="0" y="79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8212341" y="7922419"/>
            <a:ext cx="267891" cy="267891"/>
          </a:xfrm>
          <a:custGeom>
            <a:avLst/>
            <a:gdLst/>
            <a:ahLst/>
            <a:cxnLst/>
            <a:rect l="l" t="t" r="r" b="b"/>
            <a:pathLst>
              <a:path w="267891" h="267891">
                <a:moveTo>
                  <a:pt x="0" y="0"/>
                </a:moveTo>
                <a:lnTo>
                  <a:pt x="267890" y="0"/>
                </a:lnTo>
                <a:lnTo>
                  <a:pt x="267890" y="267890"/>
                </a:lnTo>
                <a:lnTo>
                  <a:pt x="0" y="2678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5173" r="-5169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8048625" y="8483356"/>
            <a:ext cx="2480815" cy="31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3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Pivot Tables</a:t>
            </a:r>
            <a:endParaRPr lang="en-US" sz="1935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048625" y="8848134"/>
            <a:ext cx="9048750" cy="30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0">
                <a:solidFill>
                  <a:srgbClr val="1521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Summarize large datasets dynamically — group, aggregate, and drill down without formulas.</a:t>
            </a:r>
            <a:endParaRPr lang="en-US" sz="1560">
              <a:solidFill>
                <a:srgbClr val="1521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3298</Words>
  <Application>WPS Presentation</Application>
  <PresentationFormat>On-screen Show (4:3)</PresentationFormat>
  <Paragraphs>210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Roboto Slab</vt:lpstr>
      <vt:lpstr>Roboto Italics</vt:lpstr>
      <vt:lpstr>Roboto</vt:lpstr>
      <vt:lpstr>Roboto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Sales-Data-Analysis-Using-Microsoft-Excel.pptx</dc:title>
  <dc:creator/>
  <cp:lastModifiedBy>Balpreet Saini</cp:lastModifiedBy>
  <cp:revision>3</cp:revision>
  <dcterms:created xsi:type="dcterms:W3CDTF">2006-08-16T00:00:00Z</dcterms:created>
  <dcterms:modified xsi:type="dcterms:W3CDTF">2026-04-15T17:00:03Z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7411A64666B34B0C94EFE30590DA8D2E_13</vt:lpwstr>
  </property>
  <property fmtid="{D5CDD505-2E9C-101B-9397-08002B2CF9AE}" pid="3" name="KSOProductBuildVer">
    <vt:lpwstr>1033-12.2.0.23196</vt:lpwstr>
  </property>
</Properties>
</file>